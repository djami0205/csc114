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2937"/>
                </a:solidFill>
                <a:latin typeface="Arial"/>
              </a:rPr>
              <a:t>Per-Fold Accuracy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A7F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Fold 1</c:v>
                  </c:pt>
                  <c:pt idx="1">
                    <c:v>Fold 2</c:v>
                  </c:pt>
                  <c:pt idx="2">
                    <c:v>Fold 3</c:v>
                  </c:pt>
                  <c:pt idx="3">
                    <c:v>Fold 4</c:v>
                  </c:pt>
                  <c:pt idx="4">
                    <c:v>Fold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0.6845</c:v>
                </c:pt>
                <c:pt idx="1">
                  <c:v>0.665</c:v>
                </c:pt>
                <c:pt idx="2">
                  <c:v>0.7463</c:v>
                </c:pt>
                <c:pt idx="3">
                  <c:v>0.6537</c:v>
                </c:pt>
                <c:pt idx="4">
                  <c:v>0.6683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2A7F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High-priced</c:v>
                  </c:pt>
                  <c:pt idx="1">
                    <c:v>Low-priced</c:v>
                  </c:pt>
                  <c:pt idx="2">
                    <c:v>Mid-priced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0.75</c:v>
                </c:pt>
                <c:pt idx="1">
                  <c:v>0.73</c:v>
                </c:pt>
                <c:pt idx="2">
                  <c:v>0.56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D972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High-priced</c:v>
                  </c:pt>
                  <c:pt idx="1">
                    <c:v>Low-priced</c:v>
                  </c:pt>
                  <c:pt idx="2">
                    <c:v>Mid-priced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0.69</c:v>
                </c:pt>
                <c:pt idx="1">
                  <c:v>0.83</c:v>
                </c:pt>
                <c:pt idx="2">
                  <c:v>0.52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7CA9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High-priced</c:v>
                  </c:pt>
                  <c:pt idx="1">
                    <c:v>Low-priced</c:v>
                  </c:pt>
                  <c:pt idx="2">
                    <c:v>Mid-priced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0.72</c:v>
                </c:pt>
                <c:pt idx="1">
                  <c:v>0.78</c:v>
                </c:pt>
                <c:pt idx="2">
                  <c:v>0.54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Texas Home Price Classifier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2461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price tier from property features — CSC-114 Mini-Project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063240"/>
            <a:ext cx="1280160" cy="36576"/>
          </a:xfrm>
          <a:prstGeom prst="rect">
            <a:avLst/>
          </a:prstGeom>
          <a:solidFill>
            <a:srgbClr val="2A7F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Monica  ·  Prompt Masters Track  ·  Module 5–8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Model Does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whether a Texas home is low-, mid-, or high-priced based on its physical characteristics — a category, not an exact dollar amount.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404872"/>
            <a:ext cx="502920" cy="502920"/>
          </a:xfrm>
          <a:prstGeom prst="ellipse">
            <a:avLst/>
          </a:prstGeom>
          <a:solidFill>
            <a:srgbClr val="2A7F7F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41248" y="306324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 &amp; Clean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3566160"/>
            <a:ext cx="220370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key columns kept (type, size, beds, baths, garage, year built, price); rows with missing values dropped.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47288" y="21488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48456" y="2404872"/>
            <a:ext cx="502920" cy="502920"/>
          </a:xfrm>
          <a:prstGeom prst="ellipse">
            <a:avLst/>
          </a:prstGeom>
          <a:solidFill>
            <a:srgbClr val="2A7F7F"/>
          </a:solidFill>
          <a:ln/>
        </p:spPr>
      </p:sp>
      <p:sp>
        <p:nvSpPr>
          <p:cNvPr id="11" name="Text 9"/>
          <p:cNvSpPr/>
          <p:nvPr/>
        </p:nvSpPr>
        <p:spPr>
          <a:xfrm>
            <a:off x="3648456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48456" y="306324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Categories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48456" y="3566160"/>
            <a:ext cx="220370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listPrice split into 3 equal-sized tertiles: low / mid / high-priced (pd.qcut).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54496" y="21488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55664" y="2404872"/>
            <a:ext cx="502920" cy="502920"/>
          </a:xfrm>
          <a:prstGeom prst="ellipse">
            <a:avLst/>
          </a:prstGeom>
          <a:solidFill>
            <a:srgbClr val="2A7F7F"/>
          </a:solidFill>
          <a:ln/>
        </p:spPr>
      </p:sp>
      <p:sp>
        <p:nvSpPr>
          <p:cNvPr id="16" name="Text 14"/>
          <p:cNvSpPr/>
          <p:nvPr/>
        </p:nvSpPr>
        <p:spPr>
          <a:xfrm>
            <a:off x="6455664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55664" y="306324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 &amp; Preprocess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55664" y="3566160"/>
            <a:ext cx="220370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train/test split; numeric features scaled, categorical features one-hot encoded.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61704" y="21488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62872" y="2404872"/>
            <a:ext cx="502920" cy="502920"/>
          </a:xfrm>
          <a:prstGeom prst="ellipse">
            <a:avLst/>
          </a:prstGeom>
          <a:solidFill>
            <a:srgbClr val="2A7F7F"/>
          </a:solidFill>
          <a:ln/>
        </p:spPr>
      </p:sp>
      <p:sp>
        <p:nvSpPr>
          <p:cNvPr id="21" name="Text 19"/>
          <p:cNvSpPr/>
          <p:nvPr/>
        </p:nvSpPr>
        <p:spPr>
          <a:xfrm>
            <a:off x="9262872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62872" y="306324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&amp; Validate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62872" y="3566160"/>
            <a:ext cx="220370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LogisticRegression classifier; 5-fold cross-validation confirms stability before the held-out test.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the 68% Accuracy Trustworthy?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on the training data checks whether the held-out test score was a lucky split.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2011680"/>
            <a:ext cx="3657600" cy="1051560"/>
          </a:xfrm>
          <a:prstGeom prst="roundRect">
            <a:avLst>
              <a:gd name="adj" fmla="val 8696"/>
            </a:avLst>
          </a:prstGeom>
          <a:solidFill>
            <a:srgbClr val="F4F6F8"/>
          </a:solidFill>
          <a:ln/>
        </p:spPr>
      </p:sp>
      <p:sp>
        <p:nvSpPr>
          <p:cNvPr id="6" name="Shape 3"/>
          <p:cNvSpPr/>
          <p:nvPr/>
        </p:nvSpPr>
        <p:spPr>
          <a:xfrm>
            <a:off x="7863840" y="2011680"/>
            <a:ext cx="73152" cy="1051560"/>
          </a:xfrm>
          <a:prstGeom prst="rect">
            <a:avLst/>
          </a:prstGeom>
          <a:solidFill>
            <a:srgbClr val="2A7F7F"/>
          </a:solidFill>
          <a:ln/>
        </p:spPr>
      </p:sp>
      <p:sp>
        <p:nvSpPr>
          <p:cNvPr id="7" name="Text 4"/>
          <p:cNvSpPr/>
          <p:nvPr/>
        </p:nvSpPr>
        <p:spPr>
          <a:xfrm>
            <a:off x="8092440" y="21214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0.684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092440" y="26334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Accuracy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863840" y="3246120"/>
            <a:ext cx="3657600" cy="1051560"/>
          </a:xfrm>
          <a:prstGeom prst="roundRect">
            <a:avLst>
              <a:gd name="adj" fmla="val 8696"/>
            </a:avLst>
          </a:prstGeom>
          <a:solidFill>
            <a:srgbClr val="F4F6F8"/>
          </a:solidFill>
          <a:ln/>
        </p:spPr>
      </p:sp>
      <p:sp>
        <p:nvSpPr>
          <p:cNvPr id="10" name="Shape 7"/>
          <p:cNvSpPr/>
          <p:nvPr/>
        </p:nvSpPr>
        <p:spPr>
          <a:xfrm>
            <a:off x="7863840" y="3246120"/>
            <a:ext cx="73152" cy="1051560"/>
          </a:xfrm>
          <a:prstGeom prst="rect">
            <a:avLst/>
          </a:prstGeom>
          <a:solidFill>
            <a:srgbClr val="7CA982"/>
          </a:solidFill>
          <a:ln/>
        </p:spPr>
      </p:sp>
      <p:sp>
        <p:nvSpPr>
          <p:cNvPr id="11" name="Text 8"/>
          <p:cNvSpPr/>
          <p:nvPr/>
        </p:nvSpPr>
        <p:spPr>
          <a:xfrm>
            <a:off x="8092440" y="335584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0.033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092440" y="3867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863840" y="4480560"/>
            <a:ext cx="3657600" cy="1051560"/>
          </a:xfrm>
          <a:prstGeom prst="roundRect">
            <a:avLst>
              <a:gd name="adj" fmla="val 8696"/>
            </a:avLst>
          </a:prstGeom>
          <a:solidFill>
            <a:srgbClr val="F4F6F8"/>
          </a:solidFill>
          <a:ln/>
        </p:spPr>
      </p:sp>
      <p:sp>
        <p:nvSpPr>
          <p:cNvPr id="14" name="Shape 11"/>
          <p:cNvSpPr/>
          <p:nvPr/>
        </p:nvSpPr>
        <p:spPr>
          <a:xfrm>
            <a:off x="7863840" y="4480560"/>
            <a:ext cx="73152" cy="1051560"/>
          </a:xfrm>
          <a:prstGeom prst="rect">
            <a:avLst/>
          </a:prstGeom>
          <a:solidFill>
            <a:srgbClr val="D9724C"/>
          </a:solidFill>
          <a:ln/>
        </p:spPr>
      </p:sp>
      <p:sp>
        <p:nvSpPr>
          <p:cNvPr id="15" name="Text 12"/>
          <p:cNvSpPr/>
          <p:nvPr/>
        </p:nvSpPr>
        <p:spPr>
          <a:xfrm>
            <a:off x="8092440" y="45902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0.333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092440" y="51023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Baseline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863840" y="58064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accuracy (0.68) matches the k-fold mean almost exactly — the score is stable, not a fluke.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by Price Category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set — precision, recall, and F1-score for each of the three classes.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10881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Mid-priced homes are the hardest category to predict.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7223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categories are artificial tertile cutoffs — a home just above or below a boundary looks nearly identical in every feature. Mid-priced sits between two borders (low and high), so it gets confused with both neighbors. High- and low-priced homes are more “extreme” and easier to separate.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0" y="2514600"/>
            <a:ext cx="32918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0" y="2514600"/>
            <a:ext cx="73152" cy="1005840"/>
          </a:xfrm>
          <a:prstGeom prst="rect">
            <a:avLst/>
          </a:prstGeom>
          <a:solidFill>
            <a:srgbClr val="D9724C"/>
          </a:solidFill>
          <a:ln/>
        </p:spPr>
      </p:sp>
      <p:sp>
        <p:nvSpPr>
          <p:cNvPr id="7" name="Text 5"/>
          <p:cNvSpPr/>
          <p:nvPr/>
        </p:nvSpPr>
        <p:spPr>
          <a:xfrm>
            <a:off x="8458200" y="2606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458200" y="3108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Mid-priced precision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0" y="3703320"/>
            <a:ext cx="32918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0" y="3703320"/>
            <a:ext cx="73152" cy="1005840"/>
          </a:xfrm>
          <a:prstGeom prst="rect">
            <a:avLst/>
          </a:prstGeom>
          <a:solidFill>
            <a:srgbClr val="D9724C"/>
          </a:solidFill>
          <a:ln/>
        </p:spPr>
      </p:sp>
      <p:sp>
        <p:nvSpPr>
          <p:cNvPr id="11" name="Text 9"/>
          <p:cNvSpPr/>
          <p:nvPr/>
        </p:nvSpPr>
        <p:spPr>
          <a:xfrm>
            <a:off x="8458200" y="3794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458200" y="4297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Mid-priced recall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0" y="4892040"/>
            <a:ext cx="32918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0" y="4892040"/>
            <a:ext cx="73152" cy="1005840"/>
          </a:xfrm>
          <a:prstGeom prst="rect">
            <a:avLst/>
          </a:prstGeom>
          <a:solidFill>
            <a:srgbClr val="7CA982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4983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0.72–0.78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458200" y="5486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High/low-priced F1 range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645920"/>
            <a:ext cx="457200" cy="457200"/>
          </a:xfrm>
          <a:prstGeom prst="ellipse">
            <a:avLst/>
          </a:prstGeom>
          <a:solidFill>
            <a:srgbClr val="2A7F7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0" y="149047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the charter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760720" y="149047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the classification pivot: cohort framing, data/tools, and a formal “good enough” threshold (beats ~33% baseline, k-fold-stable).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834640"/>
            <a:ext cx="457200" cy="457200"/>
          </a:xfrm>
          <a:prstGeom prst="ellipse">
            <a:avLst/>
          </a:prstGeom>
          <a:solidFill>
            <a:srgbClr val="2A7F7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67919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 scope with instructors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760720" y="267919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with Mallory or Andrew that the classification detour is acceptable against the original Tabular/regression scoping.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023360"/>
            <a:ext cx="457200" cy="457200"/>
          </a:xfrm>
          <a:prstGeom prst="ellipse">
            <a:avLst/>
          </a:prstGeom>
          <a:solidFill>
            <a:srgbClr val="2A7F7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5920" y="386791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Investigate mid-priced weakness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760720" y="386791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feature options (e.g., verifying Price_Per_SqFt leakage) within course-taught methods.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9377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5212080"/>
            <a:ext cx="457200" cy="457200"/>
          </a:xfrm>
          <a:prstGeom prst="ellipse">
            <a:avLst/>
          </a:prstGeom>
          <a:solidFill>
            <a:srgbClr val="2A7F7F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45920" y="505663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the reflection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760720" y="505663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which workflow step Housing stopped on, and what's different this time.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2026-07-20T14:34:38Z</dcterms:created>
  <dcterms:modified xsi:type="dcterms:W3CDTF">2026-07-20T14:34:38Z</dcterms:modified>
</cp:coreProperties>
</file>